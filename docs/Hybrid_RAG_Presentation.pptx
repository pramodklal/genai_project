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74" r:id="rId13"/>
    <p:sldId id="265" r:id="rId14"/>
    <p:sldId id="275" r:id="rId15"/>
    <p:sldId id="276" r:id="rId16"/>
    <p:sldId id="277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r>
              <a:rPr lang="en-US"/>
              <a:t>Copyright @ CodeInsights @pramodklal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RAG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Multi-Strategy Retrieval-Augmented Generation for E-Commerce</a:t>
            </a:r>
          </a:p>
          <a:p/>
          <a:p/>
          <a:p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3540"/>
            <a:ext cx="7058025" cy="32893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sz="2000"/>
              <a:t>The Problem: Traditional LLMs Without RAG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❌ Knowledge Cutoff: Only know training data (outdated)</a:t>
            </a:r>
          </a:p>
          <a:p>
            <a:pPr marL="0" indent="0">
              <a:buNone/>
              <a:defRPr sz="1800"/>
            </a:pPr>
            <a:r>
              <a:t>❌ Hallucinations: Generate plausible but incorrect answers</a:t>
            </a:r>
          </a:p>
          <a:p>
            <a:pPr marL="0" indent="0">
              <a:buNone/>
              <a:defRPr sz="1800"/>
            </a:pPr>
            <a:r>
              <a:t>❌ No Private Data: Cannot access company documents/databases</a:t>
            </a:r>
          </a:p>
          <a:p>
            <a:pPr marL="0" indent="0">
              <a:buNone/>
              <a:defRPr sz="1800"/>
            </a:pPr>
            <a:r>
              <a:t>❌ Static Knowledge: No new information without retraining</a:t>
            </a:r>
          </a:p>
          <a:p>
            <a:pPr marL="0" indent="0">
              <a:buNone/>
              <a:defRPr sz="1800"/>
            </a:pPr>
            <a:r>
              <a:t>❌ No Source Attribution: Cannot cite information sources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 b="1" i="1">
                <a:solidFill>
                  <a:schemeClr val="accent2">
                    <a:lumMod val="50000"/>
                  </a:schemeClr>
                </a:solidFill>
              </a:rPr>
              <a:t>Example: "What's our return policy?" → Generic or wrong answer</a:t>
            </a:r>
            <a:endParaRPr b="1" i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4090" cy="43434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sz="2000"/>
              <a:t>What is RAG? (Retrieval-Augmented Generation)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rPr>
                <a:solidFill>
                  <a:schemeClr val="accent2">
                    <a:lumMod val="50000"/>
                  </a:schemeClr>
                </a:solidFill>
              </a:rPr>
              <a:t>RAG enhances LLMs by combining them with knowledge retrieval</a:t>
            </a:r>
            <a:endParaRPr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1800"/>
            </a:pPr>
            <a:endParaRPr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  <a:defRPr sz="1800"/>
            </a:pPr>
            <a:r>
              <a:rPr b="1">
                <a:solidFill>
                  <a:schemeClr val="accent2">
                    <a:lumMod val="50000"/>
                  </a:schemeClr>
                </a:solidFill>
              </a:rPr>
              <a:t>Three Stages:</a:t>
            </a:r>
            <a:endParaRPr b="1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  <a:defRPr sz="1800"/>
            </a:pPr>
            <a:r>
              <a:t>1. RETRIEVE: Search your knowledge base for relevant info</a:t>
            </a:r>
          </a:p>
          <a:p>
            <a:pPr marL="0" indent="0">
              <a:buNone/>
              <a:defRPr sz="1800"/>
            </a:pPr>
            <a:r>
              <a:t>2. AUGMENT: Inject retrieved data into LLM prompt as context</a:t>
            </a:r>
          </a:p>
          <a:p>
            <a:pPr marL="0" indent="0">
              <a:buNone/>
              <a:defRPr sz="1800"/>
            </a:pPr>
            <a:r>
              <a:t>3. GENERATE: LLM creates answer based on your data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6223635" cy="3987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rPr sz="2000" b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RAG </a:t>
            </a:r>
            <a:endParaRPr sz="2000" b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94080"/>
            <a:ext cx="8229600" cy="5641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4472C4"/>
                </a:solidFill>
              </a:defRPr>
            </a:pPr>
            <a:r>
              <a:rPr sz="1800" b="0">
                <a:solidFill>
                  <a:schemeClr val="accent2">
                    <a:lumMod val="50000"/>
                  </a:schemeClr>
                </a:solidFill>
              </a:rPr>
              <a:t>How Traditional RAG Works</a:t>
            </a:r>
            <a:endParaRPr sz="1800" b="0">
              <a:solidFill>
                <a:schemeClr val="accent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000">
                <a:solidFill>
                  <a:srgbClr val="C80000"/>
                </a:solidFill>
                <a:latin typeface="Courier New" panose="02070309020205020404"/>
              </a:defRPr>
            </a:pPr>
            <a:r>
              <a:t>1. User Query</a:t>
            </a:r>
            <a:br/>
            <a:r>
              <a:t>   ↓</a:t>
            </a:r>
            <a:br/>
            <a:r>
              <a:t>2. Retrieve Relevant Documents (Vector Search)</a:t>
            </a:r>
            <a:br/>
            <a:r>
              <a:t>   ↓</a:t>
            </a:r>
            <a:br/>
            <a:r>
              <a:t>3. Combine Query + Retrieved Context</a:t>
            </a:r>
            <a:br/>
            <a:r>
              <a:t>   ↓</a:t>
            </a:r>
            <a:br/>
            <a:r>
              <a:t>4. Send to LLM (GPT-4, etc.)</a:t>
            </a:r>
            <a:br/>
            <a:r>
              <a:t>   ↓</a:t>
            </a:r>
            <a:br/>
            <a:r>
              <a:t>5. Generate Response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b="1"/>
              <a:t>Example Flow:</a:t>
            </a:r>
            <a:endParaRPr b="1"/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olidFill>
                  <a:srgbClr val="7030A0"/>
                </a:solidFill>
              </a:rPr>
              <a:t>Query</a:t>
            </a:r>
            <a:r>
              <a:t>: "What is the return policy?"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olidFill>
                  <a:srgbClr val="7030A0"/>
                </a:solidFill>
              </a:rPr>
              <a:t>Retrieve:</a:t>
            </a:r>
            <a:r>
              <a:t> Finds relevant sections from policy documents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olidFill>
                  <a:srgbClr val="7030A0"/>
                </a:solidFill>
              </a:rPr>
              <a:t>Context:</a:t>
            </a:r>
            <a:r>
              <a:t> "Returns accepted within 30 days with receipt..."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olidFill>
                  <a:srgbClr val="7030A0"/>
                </a:solidFill>
              </a:rPr>
              <a:t>LLM: </a:t>
            </a:r>
            <a:r>
              <a:t>Generates natural answer using the retrieved context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olidFill>
                  <a:srgbClr val="7030A0"/>
                </a:solidFill>
              </a:rPr>
              <a:t>Response:</a:t>
            </a:r>
            <a:r>
              <a:t> "Our return policy allows returns within 30 days..."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ClrTx/>
              <a:buSzTx/>
              <a:buFontTx/>
              <a:defRPr sz="2000" b="1">
                <a:solidFill>
                  <a:srgbClr val="4472C4"/>
                </a:solidFill>
              </a:defRPr>
            </a:pPr>
            <a:r>
              <a:rPr sz="1800" b="0">
                <a:solidFill>
                  <a:schemeClr val="accent2">
                    <a:lumMod val="50000"/>
                  </a:schemeClr>
                </a:solidFill>
              </a:rPr>
              <a:t>Traditional RAG Limitations</a:t>
            </a:r>
            <a:endParaRPr sz="1800" b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t>Single Strategy Approach: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t>Only uses semantic/vector search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t>Not optimal for all query types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t>Struggles with exact matches (IDs, dates, numbers)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t>Poor performance on structured data queries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t>Cannot handle complex filtering requirements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845300" cy="47625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l">
              <a:buClrTx/>
              <a:buSzTx/>
              <a:buFontTx/>
            </a:pPr>
            <a:r>
              <a:rPr sz="2000"/>
              <a:t>Limitations of Traditional RAG (Single Strategy)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90" y="909320"/>
            <a:ext cx="8601710" cy="5218430"/>
          </a:xfrm>
        </p:spPr>
        <p:txBody>
          <a:bodyPr/>
          <a:lstStyle/>
          <a:p/>
          <a:p>
            <a:pPr marL="0" indent="0">
              <a:buNone/>
              <a:defRPr sz="1800"/>
            </a:pPr>
            <a:r>
              <a:rPr>
                <a:highlight>
                  <a:srgbClr val="FFFF00"/>
                </a:highlight>
              </a:rPr>
              <a:t>Uses ONLY vector search for ALL queries</a:t>
            </a:r>
            <a:endParaRPr b="1">
              <a:highlight>
                <a:srgbClr val="FFFF00"/>
              </a:highlight>
            </a:endParaRP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>
                <a:solidFill>
                  <a:srgbClr val="7030A0"/>
                </a:solidFill>
              </a:rPr>
              <a:t>Problems:</a:t>
            </a:r>
            <a:endParaRPr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❌ One-size-fits-all: Not optimal for all query types</a:t>
            </a:r>
          </a:p>
          <a:p>
            <a:pPr marL="0" indent="0">
              <a:buNone/>
              <a:defRPr sz="1800"/>
            </a:pPr>
            <a:r>
              <a:t>❌ Performance: Slow for exact lookups (IDs, orders)</a:t>
            </a:r>
          </a:p>
          <a:p>
            <a:pPr marL="0" indent="0">
              <a:buNone/>
              <a:defRPr sz="1800"/>
            </a:pPr>
            <a:r>
              <a:t>❌ Cost: Must create embeddings for ALL data ($$$)</a:t>
            </a:r>
          </a:p>
          <a:p>
            <a:pPr marL="0" indent="0">
              <a:buNone/>
              <a:defRPr sz="1800"/>
            </a:pPr>
            <a:r>
              <a:t>❌ Structured Data: Poor for filters, facets, exact matches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>
                <a:solidFill>
                  <a:srgbClr val="7030A0"/>
                </a:solidFill>
              </a:rPr>
              <a:t>Example: "Show order #12345"</a:t>
            </a:r>
            <a:endParaRPr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→ Converts to vector, searches 50K orders, finds 'similar'</a:t>
            </a:r>
          </a:p>
          <a:p>
            <a:pPr marL="0" indent="0">
              <a:buNone/>
              <a:defRPr sz="1800"/>
            </a:pPr>
            <a:r>
              <a:t>→ 800ms, $0.03, 85%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292215" cy="47625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Hybrid RAG: The Intelligent Solution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8229600" cy="5314950"/>
          </a:xfrm>
        </p:spPr>
        <p:txBody>
          <a:bodyPr/>
          <a:lstStyle/>
          <a:p>
            <a:pPr marL="0" indent="0">
              <a:buNone/>
            </a:pPr>
            <a:r>
              <a:rPr sz="2000">
                <a:sym typeface="+mn-ea"/>
              </a:rPr>
              <a:t>Hybrid RAG extends traditional RAG by combining multiple retrieval strategies intelligently, selecting the best approach based on the query type.</a:t>
            </a:r>
            <a:endParaRPr sz="2000">
              <a:sym typeface="+mn-ea"/>
            </a:endParaRPr>
          </a:p>
          <a:p>
            <a:pPr marL="0" indent="0">
              <a:buNone/>
            </a:pPr>
            <a:r>
              <a:rPr sz="1800" b="1"/>
              <a:t>Uses MULTIPLE retrieval strategies intelligently</a:t>
            </a:r>
            <a:endParaRPr sz="1800" b="1"/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Three Strategies:</a:t>
            </a:r>
            <a:endParaRPr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  <a:defRPr sz="1800"/>
            </a:pPr>
            <a:r>
              <a:t>🔵 </a:t>
            </a:r>
            <a:r>
              <a:rPr>
                <a:solidFill>
                  <a:srgbClr val="0070C0"/>
                </a:solidFill>
              </a:rPr>
              <a:t>Vector Search (Semantic/Conceptual)</a:t>
            </a:r>
            <a:endParaRPr>
              <a:solidFill>
                <a:srgbClr val="0070C0"/>
              </a:solidFill>
            </a:endParaRPr>
          </a:p>
          <a:p>
            <a:pPr marL="0" indent="0">
              <a:buNone/>
              <a:defRPr sz="1800"/>
            </a:pPr>
            <a:r>
              <a:t>   → 'What's your return policy?' → Document similarity search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🟢</a:t>
            </a:r>
            <a:r>
              <a:rPr>
                <a:solidFill>
                  <a:srgbClr val="0070C0"/>
                </a:solidFill>
              </a:rPr>
              <a:t> Filter Search (Exact Match)</a:t>
            </a:r>
            <a:endParaRPr>
              <a:solidFill>
                <a:srgbClr val="0070C0"/>
              </a:solidFill>
            </a:endParaRPr>
          </a:p>
          <a:p>
            <a:pPr marL="0" indent="0">
              <a:buNone/>
              <a:defRPr sz="1800"/>
            </a:pPr>
            <a:r>
              <a:t> → 'Show order #12345' → Direct database lookup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t>🟡 </a:t>
            </a:r>
            <a:r>
              <a:rPr>
                <a:solidFill>
                  <a:srgbClr val="0070C0"/>
                </a:solidFill>
              </a:rPr>
              <a:t>Full-Text Search (Keyword + Facets)</a:t>
            </a:r>
            <a:endParaRPr>
              <a:solidFill>
                <a:srgbClr val="0070C0"/>
              </a:solidFill>
            </a:endParaRPr>
          </a:p>
          <a:p>
            <a:pPr marL="0" indent="0">
              <a:buNone/>
              <a:defRPr sz="1800"/>
            </a:pPr>
            <a:r>
              <a:t>→ 'Laptops under $1000' → Keyword + price filter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✅ Right tool for each job = Better, Faster, Cheaper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39433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Strategy 1: Vector Search (Semantic)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190"/>
            <a:ext cx="8229600" cy="6017895"/>
          </a:xfrm>
        </p:spPr>
        <p:txBody>
          <a:bodyPr/>
          <a:lstStyle/>
          <a:p>
            <a:pPr marL="0" indent="0">
              <a:buNone/>
            </a:pPr>
            <a:r>
              <a:rPr sz="1800">
                <a:solidFill>
                  <a:schemeClr val="accent1">
                    <a:lumMod val="75000"/>
                  </a:schemeClr>
                </a:solidFill>
              </a:rPr>
              <a:t>Best For: Conceptual questions, document search</a:t>
            </a:r>
            <a:endParaRPr sz="180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spcAft>
                <a:spcPts val="400"/>
              </a:spcAft>
              <a:buNone/>
              <a:defRPr sz="1400">
                <a:solidFill>
                  <a:srgbClr val="000000"/>
                </a:solidFill>
              </a:defRPr>
            </a:pPr>
            <a:endParaRPr sz="1400">
              <a:sym typeface="+mn-ea"/>
            </a:endParaRPr>
          </a:p>
          <a:p>
            <a:pPr marL="0" indent="0">
              <a:spcAft>
                <a:spcPts val="400"/>
              </a:spcAft>
              <a:buNone/>
              <a:defRPr sz="1400">
                <a:solidFill>
                  <a:srgbClr val="000000"/>
                </a:solidFill>
              </a:defRPr>
            </a:pPr>
            <a:r>
              <a:rPr sz="1400" b="1">
                <a:solidFill>
                  <a:srgbClr val="7030A0"/>
                </a:solidFill>
                <a:sym typeface="+mn-ea"/>
              </a:rPr>
              <a:t>How it Works:</a:t>
            </a:r>
            <a:endParaRPr sz="1400" b="1">
              <a:solidFill>
                <a:srgbClr val="7030A0"/>
              </a:solidFill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400">
                <a:sym typeface="+mn-ea"/>
              </a:rPr>
              <a:t>Converts text to numerical vectors (embeddings)</a:t>
            </a:r>
            <a:r>
              <a:rPr lang="en-US" sz="1400">
                <a:sym typeface="+mn-ea"/>
              </a:rPr>
              <a:t>/</a:t>
            </a:r>
            <a:r>
              <a:rPr>
                <a:sym typeface="+mn-ea"/>
              </a:rPr>
              <a:t>Convert query to 3072D vector embedding</a:t>
            </a:r>
            <a:endParaRPr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ym typeface="+mn-ea"/>
              </a:rPr>
              <a:t>Cosine similarity search across document vectors</a:t>
            </a:r>
            <a:r>
              <a:rPr lang="en-US">
                <a:sym typeface="+mn-ea"/>
              </a:rPr>
              <a:t>/</a:t>
            </a:r>
            <a:r>
              <a:rPr sz="1400">
                <a:sym typeface="+mn-ea"/>
              </a:rPr>
              <a:t>Uses similarity algorithms (cosine, dot product)</a:t>
            </a:r>
            <a:endParaRPr sz="14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400">
                <a:sym typeface="+mn-ea"/>
              </a:rPr>
              <a:t>Finds semantically similar content</a:t>
            </a:r>
            <a:r>
              <a:rPr lang="en-US" sz="1400">
                <a:sym typeface="+mn-ea"/>
              </a:rPr>
              <a:t>/</a:t>
            </a:r>
            <a:r>
              <a:rPr>
                <a:sym typeface="+mn-ea"/>
              </a:rPr>
              <a:t>Returns semantically similar content</a:t>
            </a:r>
            <a:endParaRPr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endParaRPr sz="1400">
              <a:sym typeface="+mn-ea"/>
            </a:endParaRPr>
          </a:p>
          <a:p>
            <a:pPr marL="0" algn="l">
              <a:spcAft>
                <a:spcPts val="40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</a:defRPr>
            </a:pPr>
            <a:r>
              <a:rPr sz="1400" b="1">
                <a:solidFill>
                  <a:srgbClr val="7030A0"/>
                </a:solidFill>
                <a:sym typeface="+mn-ea"/>
              </a:rPr>
              <a:t>Best For:</a:t>
            </a:r>
            <a:endParaRPr sz="1400" b="1">
              <a:solidFill>
                <a:srgbClr val="7030A0"/>
              </a:solidFill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400">
                <a:sym typeface="+mn-ea"/>
              </a:rPr>
              <a:t>Natural language questions</a:t>
            </a:r>
            <a:endParaRPr sz="14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400">
                <a:sym typeface="+mn-ea"/>
              </a:rPr>
              <a:t>Conceptual queries</a:t>
            </a:r>
            <a:endParaRPr sz="14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400">
                <a:sym typeface="+mn-ea"/>
              </a:rPr>
              <a:t>Paraphrased questions</a:t>
            </a:r>
            <a:endParaRPr sz="14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400">
                <a:sym typeface="+mn-ea"/>
              </a:rPr>
              <a:t>Content understanding</a:t>
            </a:r>
            <a:endParaRPr sz="1400">
              <a:sym typeface="+mn-ea"/>
            </a:endParaRPr>
          </a:p>
          <a:p>
            <a:pPr marL="0" algn="l">
              <a:spcAft>
                <a:spcPts val="400"/>
              </a:spcAft>
              <a:buClrTx/>
              <a:buSzTx/>
              <a:buFontTx/>
              <a:buNone/>
              <a:defRPr sz="1400">
                <a:solidFill>
                  <a:srgbClr val="000000"/>
                </a:solidFill>
              </a:defRPr>
            </a:pPr>
            <a:r>
              <a:rPr b="1">
                <a:solidFill>
                  <a:srgbClr val="7030A0"/>
                </a:solidFill>
                <a:sym typeface="+mn-ea"/>
              </a:rPr>
              <a:t>Example:</a:t>
            </a:r>
            <a:endParaRPr b="1">
              <a:solidFill>
                <a:srgbClr val="7030A0"/>
              </a:solidFill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ym typeface="+mn-ea"/>
              </a:rPr>
              <a:t>Query: "comfortable footwear for walking"</a:t>
            </a:r>
            <a:endParaRPr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ym typeface="+mn-ea"/>
              </a:rPr>
              <a:t>Finds: Products with "ergonomic shoes", "walking sneakers", "comfortable boots"</a:t>
            </a:r>
            <a:endParaRPr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ym typeface="+mn-ea"/>
              </a:rPr>
              <a:t>Why: Understands semantic meaning, not just keywords</a:t>
            </a:r>
            <a:endParaRPr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ym typeface="+mn-ea"/>
              </a:rPr>
              <a:t>Technical:</a:t>
            </a:r>
            <a:endParaRPr>
              <a:sym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000">
                <a:solidFill>
                  <a:srgbClr val="C80000"/>
                </a:solidFill>
                <a:latin typeface="Courier New" panose="02070309020205020404"/>
              </a:defRPr>
            </a:pPr>
            <a:r>
              <a:rPr>
                <a:sym typeface="+mn-ea"/>
              </a:rPr>
              <a:t>Embedding: text → [0.234, -0.891, 0.456, ...] (3072 dimensions)</a:t>
            </a:r>
            <a:br>
              <a:rPr>
                <a:sym typeface="+mn-ea"/>
              </a:rPr>
            </a:br>
            <a:r>
              <a:rPr>
                <a:sym typeface="+mn-ea"/>
              </a:rPr>
              <a:t>Similarity: cosine(query_vector, document_vector)</a:t>
            </a:r>
            <a:endParaRPr>
              <a:sym typeface="+mn-ea"/>
            </a:endParaRPr>
          </a:p>
          <a:p>
            <a:pPr marL="0" indent="0">
              <a:spcAft>
                <a:spcPts val="400"/>
              </a:spcAft>
              <a:buNone/>
              <a:defRPr sz="1400">
                <a:solidFill>
                  <a:srgbClr val="000000"/>
                </a:solidFill>
              </a:defRPr>
            </a:pPr>
            <a:endParaRPr sz="1400">
              <a:sym typeface="+mn-ea"/>
            </a:endParaRPr>
          </a:p>
          <a:p>
            <a:pPr marL="0" indent="0">
              <a:buNone/>
              <a:defRPr sz="1800"/>
            </a:pPr>
            <a:endParaRPr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340"/>
            <a:ext cx="8228965" cy="43434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Strategy 2: Filter Search (Exact Match)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20420"/>
            <a:ext cx="8229600" cy="5796915"/>
          </a:xfrm>
        </p:spPr>
        <p:txBody>
          <a:bodyPr/>
          <a:lstStyle/>
          <a:p>
            <a:pPr marL="0" indent="0">
              <a:buNone/>
            </a:pPr>
            <a:r>
              <a:rPr sz="1600">
                <a:solidFill>
                  <a:srgbClr val="0070C0"/>
                </a:solidFill>
              </a:rPr>
              <a:t>Best For: Queries with IDs, exact field matching</a:t>
            </a:r>
            <a:endParaRPr sz="1600">
              <a:solidFill>
                <a:srgbClr val="0070C0"/>
              </a:solidFill>
            </a:endParaRPr>
          </a:p>
          <a:p>
            <a:pPr marL="0" indent="0">
              <a:buNone/>
              <a:defRPr sz="1800"/>
            </a:pPr>
            <a:r>
              <a:rPr sz="1800">
                <a:solidFill>
                  <a:srgbClr val="7030A0"/>
                </a:solidFill>
              </a:rPr>
              <a:t>How It Works:</a:t>
            </a:r>
            <a:endParaRPr sz="1800"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rPr sz="1600"/>
              <a:t>• Extract ID/filter value from query</a:t>
            </a:r>
            <a:endParaRPr sz="1600"/>
          </a:p>
          <a:p>
            <a:pPr marL="0" indent="0">
              <a:buNone/>
              <a:defRPr sz="1800"/>
            </a:pPr>
            <a:r>
              <a:rPr sz="1600"/>
              <a:t>• Build OData filter expression (like SQL WHERE)</a:t>
            </a:r>
            <a:endParaRPr sz="1600"/>
          </a:p>
          <a:p>
            <a:pPr marL="0" indent="0">
              <a:buNone/>
              <a:defRPr sz="1800"/>
            </a:pPr>
            <a:r>
              <a:rPr sz="1600"/>
              <a:t>• Direct index lookup</a:t>
            </a:r>
            <a:endParaRPr sz="1600"/>
          </a:p>
          <a:p>
            <a:pPr marL="0" indent="0">
              <a:buNone/>
              <a:defRPr sz="1800"/>
            </a:pPr>
            <a:r>
              <a:rPr sz="1600"/>
              <a:t>• Returns exact matches only</a:t>
            </a:r>
            <a:endParaRPr sz="1600"/>
          </a:p>
          <a:p>
            <a:pPr marL="0" algn="l">
              <a:buClrTx/>
              <a:buSzTx/>
              <a:buFontTx/>
              <a:buNone/>
              <a:defRPr sz="1800"/>
            </a:pPr>
            <a:r>
              <a:rPr sz="1800">
                <a:solidFill>
                  <a:srgbClr val="7030A0"/>
                </a:solidFill>
                <a:sym typeface="+mn-ea"/>
              </a:rPr>
              <a:t>Best For:</a:t>
            </a:r>
            <a:endParaRPr sz="1800">
              <a:solidFill>
                <a:srgbClr val="7030A0"/>
              </a:solidFill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600">
                <a:sym typeface="+mn-ea"/>
              </a:rPr>
              <a:t>Lookup by ID (customer ID, order ID, product ID)</a:t>
            </a:r>
            <a:endParaRPr sz="16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600">
                <a:sym typeface="+mn-ea"/>
              </a:rPr>
              <a:t>Numerical filters (price &gt; 100, quantity &lt; 10)</a:t>
            </a:r>
            <a:endParaRPr sz="16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600">
                <a:sym typeface="+mn-ea"/>
              </a:rPr>
              <a:t>Date ranges (orders after 2026-01-01)</a:t>
            </a:r>
            <a:endParaRPr sz="16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600">
                <a:sym typeface="+mn-ea"/>
              </a:rPr>
              <a:t>Category filters (status = "Pending")</a:t>
            </a:r>
            <a:endParaRPr sz="1600">
              <a:sym typeface="+mn-ea"/>
            </a:endParaRPr>
          </a:p>
          <a:p>
            <a:pPr marL="0" algn="l">
              <a:buClrTx/>
              <a:buSzTx/>
              <a:buFontTx/>
              <a:buNone/>
              <a:defRPr sz="1800"/>
            </a:pPr>
            <a:r>
              <a:rPr sz="1800">
                <a:solidFill>
                  <a:srgbClr val="7030A0"/>
                </a:solidFill>
                <a:sym typeface="+mn-ea"/>
              </a:rPr>
              <a:t>Example:</a:t>
            </a:r>
            <a:endParaRPr sz="1800">
              <a:solidFill>
                <a:srgbClr val="7030A0"/>
              </a:solidFill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600">
                <a:sym typeface="+mn-ea"/>
              </a:rPr>
              <a:t>Query: "customer CUST-003"</a:t>
            </a:r>
            <a:endParaRPr sz="16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600">
                <a:sym typeface="+mn-ea"/>
              </a:rPr>
              <a:t>Filter: customer_id eq 'CUST-003'</a:t>
            </a:r>
            <a:endParaRPr sz="16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sz="1600">
                <a:sym typeface="+mn-ea"/>
              </a:rPr>
              <a:t>Why: Exact match needed, no semantic search required</a:t>
            </a:r>
            <a:endParaRPr sz="1600">
              <a:sym typeface="+mn-ea"/>
            </a:endParaRPr>
          </a:p>
          <a:p>
            <a:pPr marL="0" algn="l">
              <a:buClrTx/>
              <a:buSzTx/>
              <a:buFontTx/>
              <a:buNone/>
              <a:defRPr sz="1800"/>
            </a:pPr>
            <a:r>
              <a:rPr sz="1800">
                <a:solidFill>
                  <a:srgbClr val="7030A0"/>
                </a:solidFill>
                <a:sym typeface="+mn-ea"/>
              </a:rPr>
              <a:t>Technical:</a:t>
            </a:r>
            <a:endParaRPr sz="1800">
              <a:solidFill>
                <a:srgbClr val="7030A0"/>
              </a:solidFill>
              <a:sym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000">
                <a:solidFill>
                  <a:srgbClr val="C80000"/>
                </a:solidFill>
                <a:latin typeface="Courier New" panose="02070309020205020404"/>
              </a:defRPr>
            </a:pPr>
            <a:r>
              <a:rPr sz="1800">
                <a:sym typeface="+mn-ea"/>
              </a:rPr>
              <a:t>OData Filter: address_state eq 'NV' and total_amount gt 500</a:t>
            </a:r>
            <a:endParaRPr sz="180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36957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Strategy 3: Full-Text Search (Keyword + Facets)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1215"/>
            <a:ext cx="8229600" cy="5296535"/>
          </a:xfrm>
        </p:spPr>
        <p:txBody>
          <a:bodyPr/>
          <a:lstStyle/>
          <a:p/>
          <a:p>
            <a:pPr marL="0" indent="0">
              <a:buNone/>
              <a:defRPr sz="1800"/>
            </a:pPr>
            <a:r>
              <a:rPr sz="1400" b="1">
                <a:solidFill>
                  <a:srgbClr val="0070C0"/>
                </a:solidFill>
              </a:rPr>
              <a:t>Best For: Product search with multiple filters</a:t>
            </a:r>
            <a:endParaRPr sz="1400" b="1">
              <a:solidFill>
                <a:srgbClr val="0070C0"/>
              </a:solidFill>
            </a:endParaRPr>
          </a:p>
          <a:p>
            <a:pPr marL="0" indent="0">
              <a:buNone/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 sz="1400" b="1">
                <a:solidFill>
                  <a:srgbClr val="7030A0"/>
                </a:solidFill>
              </a:rPr>
              <a:t>How It Works:</a:t>
            </a:r>
            <a:endParaRPr sz="1400" b="1"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• Tokenize query into keywords</a:t>
            </a:r>
          </a:p>
          <a:p>
            <a:pPr marL="0" indent="0">
              <a:buNone/>
              <a:defRPr sz="1800"/>
            </a:pPr>
            <a:r>
              <a:t>• Apply facet filters (price, category, availability)</a:t>
            </a:r>
          </a:p>
          <a:p>
            <a:pPr marL="0" indent="0">
              <a:buNone/>
              <a:defRPr sz="1800"/>
            </a:pPr>
            <a:r>
              <a:t>• BM25 ranking algorithm for relevance</a:t>
            </a:r>
          </a:p>
          <a:p>
            <a:pPr marL="0" algn="l">
              <a:buClrTx/>
              <a:buSzTx/>
              <a:buFontTx/>
              <a:buNone/>
              <a:defRPr sz="1800"/>
            </a:pPr>
            <a:r>
              <a:t>• Returns ranked results</a:t>
            </a:r>
            <a:endParaRPr sz="1400" b="1"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Example: "Wireless headphones under $100 in stock"</a:t>
            </a:r>
          </a:p>
          <a:p>
            <a:pPr marL="0" indent="0">
              <a:buNone/>
              <a:defRPr sz="1800"/>
            </a:pPr>
            <a:r>
              <a:t>→ Keywords: 'wireless headphones'</a:t>
            </a:r>
          </a:p>
          <a:p>
            <a:pPr marL="0" indent="0">
              <a:buNone/>
              <a:defRPr sz="1800"/>
            </a:pPr>
            <a:r>
              <a:t>→ Filters: price &lt; 100, availability = 'in stock'</a:t>
            </a:r>
          </a:p>
          <a:p>
            <a:pPr>
              <a:defRPr sz="1800"/>
            </a:pPr>
            <a:r>
              <a:t>Performance: ~100ms | Cost: $0.005 | Accuracy: 99%</a:t>
            </a:r>
          </a:p>
          <a:p>
            <a:pPr marL="0" indent="0">
              <a:spcAft>
                <a:spcPts val="400"/>
              </a:spcAft>
              <a:buNone/>
              <a:defRPr sz="1400">
                <a:solidFill>
                  <a:srgbClr val="000000"/>
                </a:solidFill>
              </a:defRPr>
            </a:pPr>
            <a:r>
              <a:rPr sz="1400" b="1">
                <a:solidFill>
                  <a:srgbClr val="7030A0"/>
                </a:solidFill>
                <a:sym typeface="+mn-ea"/>
              </a:rPr>
              <a:t>Technical:</a:t>
            </a:r>
            <a:endParaRPr sz="1400" b="1">
              <a:solidFill>
                <a:srgbClr val="7030A0"/>
              </a:solidFill>
              <a:sym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000">
                <a:solidFill>
                  <a:srgbClr val="C80000"/>
                </a:solidFill>
                <a:latin typeface="Courier New" panose="02070309020205020404"/>
              </a:defRPr>
            </a:pPr>
            <a:r>
              <a:rPr sz="1800">
                <a:sym typeface="+mn-ea"/>
              </a:rPr>
              <a:t>Search: searchMode=all, queryType=full, searchFields=['name','description']</a:t>
            </a:r>
            <a:endParaRPr sz="1800">
              <a:sym typeface="+mn-ea"/>
            </a:endParaRPr>
          </a:p>
          <a:p>
            <a:pPr>
              <a:defRPr sz="1800"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47040"/>
            <a:ext cx="7186295" cy="3162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noAutofit/>
          </a:bodyPr>
          <a:lstStyle/>
          <a:p>
            <a:pPr>
              <a:defRPr sz="3200" b="1"/>
            </a:pPr>
            <a:r>
              <a:rPr sz="2000" b="0">
                <a:latin typeface="+mj-lt"/>
                <a:ea typeface="+mj-ea"/>
                <a:cs typeface="+mj-cs"/>
              </a:rPr>
              <a:t>Traditional RAG vs Hybrid RAG: Performance</a:t>
            </a:r>
            <a:endParaRPr sz="2000" b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17220" y="1188720"/>
          <a:ext cx="76123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595"/>
                <a:gridCol w="1903095"/>
                <a:gridCol w="1903095"/>
                <a:gridCol w="1712595"/>
              </a:tblGrid>
              <a:tr h="3733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RAG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Hybrid RAG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Query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Vector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3x types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~800ms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~250ms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3.2x faster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Cost/Query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$0.027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67% reduction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Structured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 exact match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47040" y="3615055"/>
            <a:ext cx="4572000" cy="357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4472C4"/>
                </a:solidFill>
              </a:defRPr>
            </a:pPr>
            <a:r>
              <a:rPr sz="1800" b="0">
                <a:solidFill>
                  <a:srgbClr val="7030A0"/>
                </a:solidFill>
                <a:sym typeface="+mn-ea"/>
              </a:rPr>
              <a:t>Why Hybrid is Superior</a:t>
            </a:r>
            <a:endParaRPr lang="en-US" sz="2800">
              <a:sym typeface="+mn-ea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39445" y="4114800"/>
          <a:ext cx="7590790" cy="1725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670"/>
                <a:gridCol w="2448560"/>
                <a:gridCol w="2448560"/>
              </a:tblGrid>
              <a:tr h="304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>
                          <a:sym typeface="+mn-ea"/>
                        </a:rPr>
                        <a:t>Query Type</a:t>
                      </a:r>
                      <a:endParaRPr sz="1400">
                        <a:sym typeface="+mn-ea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RAG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Hybrid RAG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What is return policy?"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✅ Good (Vector)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✅ Excellent (Vector)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32321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Order CUST-003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❌ Poor (finds similar text)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✅ Excellent (Filter + Search)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Laptop under $1000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⚠Fair (misses price filter) 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 ✅ Excellent (Filter + Search)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Comfortable shoes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✅ Good (Vector)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✅ Excellent (Vector)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Pending orders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❌ Poor (semantic confusion) 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 ✅ Perfect (Filter)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455295" y="451485"/>
            <a:ext cx="8595360" cy="6108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4472C4"/>
                </a:solidFill>
              </a:defRPr>
            </a:pPr>
            <a:r>
              <a:rPr sz="1400">
                <a:sym typeface="+mn-ea"/>
              </a:rPr>
              <a:t>Hybrid RAG Architecture</a:t>
            </a:r>
            <a:endParaRPr sz="1400">
              <a:sym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000">
                <a:solidFill>
                  <a:srgbClr val="C80000"/>
                </a:solidFill>
                <a:latin typeface="Courier New" panose="02070309020205020404"/>
              </a:defRPr>
            </a:pPr>
            <a:r>
              <a:rPr>
                <a:sym typeface="+mn-ea"/>
              </a:rPr>
              <a:t>User Query</a:t>
            </a:r>
            <a:br>
              <a:rPr>
                <a:sym typeface="+mn-ea"/>
              </a:rPr>
            </a:br>
            <a:r>
              <a:rPr>
                <a:sym typeface="+mn-ea"/>
              </a:rPr>
              <a:t>   ↓</a:t>
            </a:r>
            <a:br>
              <a:rPr>
                <a:sym typeface="+mn-ea"/>
              </a:rPr>
            </a:br>
            <a:r>
              <a:rPr>
                <a:sym typeface="+mn-ea"/>
              </a:rPr>
              <a:t>Query Classification (Intent Detection)</a:t>
            </a:r>
            <a:br>
              <a:rPr>
                <a:sym typeface="+mn-ea"/>
              </a:rPr>
            </a:br>
            <a:r>
              <a:rPr>
                <a:sym typeface="+mn-ea"/>
              </a:rPr>
              <a:t>   ↓</a:t>
            </a:r>
            <a:br>
              <a:rPr>
                <a:sym typeface="+mn-ea"/>
              </a:rPr>
            </a:br>
            <a:r>
              <a:rPr>
                <a:sym typeface="+mn-ea"/>
              </a:rPr>
              <a:t>   ├─ Policy/FAQ Question? → Vector Search (Embeddings)</a:t>
            </a:r>
            <a:br>
              <a:rPr>
                <a:sym typeface="+mn-ea"/>
              </a:rPr>
            </a:br>
            <a:r>
              <a:rPr>
                <a:sym typeface="+mn-ea"/>
              </a:rPr>
              <a:t>   ├─ Lookup by ID/Status? → Filter Search (OData)</a:t>
            </a:r>
            <a:br>
              <a:rPr>
                <a:sym typeface="+mn-ea"/>
              </a:rPr>
            </a:br>
            <a:r>
              <a:rPr>
                <a:sym typeface="+mn-ea"/>
              </a:rPr>
              <a:t>   ├─ Product Search? → Full-Text Search (Keywords)</a:t>
            </a:r>
            <a:br>
              <a:rPr>
                <a:sym typeface="+mn-ea"/>
              </a:rPr>
            </a:br>
            <a:r>
              <a:rPr>
                <a:sym typeface="+mn-ea"/>
              </a:rPr>
              <a:t>   └─ Complex Query? → Combine Multiple Strategies</a:t>
            </a:r>
            <a:br>
              <a:rPr>
                <a:sym typeface="+mn-ea"/>
              </a:rPr>
            </a:br>
            <a:r>
              <a:rPr>
                <a:sym typeface="+mn-ea"/>
              </a:rPr>
              <a:t>   ↓</a:t>
            </a:r>
            <a:br>
              <a:rPr>
                <a:sym typeface="+mn-ea"/>
              </a:rPr>
            </a:br>
            <a:r>
              <a:rPr>
                <a:sym typeface="+mn-ea"/>
              </a:rPr>
              <a:t>Context Retrieval</a:t>
            </a:r>
            <a:endParaRPr>
              <a:sym typeface="+mn-ea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4472C4"/>
                </a:solidFill>
              </a:defRPr>
            </a:pPr>
            <a:r>
              <a:rPr sz="1400">
                <a:sym typeface="+mn-ea"/>
              </a:rPr>
              <a:t>Key Benefits of Hybrid RAG</a:t>
            </a:r>
            <a:endParaRPr sz="1400">
              <a:sym typeface="+mn-ea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Accuracy: Right search strategy for each query type</a:t>
            </a:r>
            <a:endParaRPr sz="1200">
              <a:sym typeface="+mn-ea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Speed: Filter search faster than vector for exact matches</a:t>
            </a:r>
            <a:endParaRPr sz="1200">
              <a:sym typeface="+mn-ea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Flexibility: Handles diverse query patterns</a:t>
            </a:r>
            <a:endParaRPr sz="1200">
              <a:sym typeface="+mn-ea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Cost-Effective: Only generates embeddings when needed</a:t>
            </a:r>
            <a:endParaRPr sz="1200">
              <a:sym typeface="+mn-ea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pPr>
            <a:r>
              <a:rPr sz="1200">
                <a:sym typeface="+mn-ea"/>
              </a:rPr>
              <a:t>Scalability: Each strategy scales independently</a:t>
            </a:r>
            <a:endParaRPr sz="1200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 b="1">
                <a:solidFill>
                  <a:srgbClr val="4472C4"/>
                </a:solidFill>
                <a:sym typeface="+mn-ea"/>
              </a:rPr>
              <a:t>Real-World Example:</a:t>
            </a:r>
            <a:endParaRPr b="1">
              <a:solidFill>
                <a:srgbClr val="4472C4"/>
              </a:solidFill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rPr>
                <a:sym typeface="+mn-ea"/>
              </a:rPr>
              <a:t>Scenario: E-commerce customer service chatbot</a:t>
            </a:r>
            <a:r>
              <a:rPr lang="en-US">
                <a:sym typeface="+mn-ea"/>
              </a:rPr>
              <a:t>/</a:t>
            </a:r>
            <a:r>
              <a:rPr>
                <a:sym typeface="+mn-ea"/>
              </a:rPr>
              <a:t>Query: "Status of order ORD-12345"</a:t>
            </a:r>
            <a:endParaRPr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endParaRPr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endParaRPr lang="en-US" altLang="en-US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endParaRPr lang="en-US" altLang="en-US">
              <a:sym typeface="+mn-ea"/>
            </a:endParaR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endParaRPr lang="en-US" altLang="en-US" sz="800">
              <a:sym typeface="+mn-e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4485" y="4632325"/>
          <a:ext cx="7889875" cy="2112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3215"/>
                <a:gridCol w="3756660"/>
              </a:tblGrid>
              <a:tr h="310515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sym typeface="+mn-ea"/>
                        </a:rPr>
                        <a:t>Traditional RAG (Single Strategy - Vector Only):</a:t>
                      </a:r>
                      <a:endParaRPr sz="1200">
                        <a:solidFill>
                          <a:srgbClr val="FFFFFF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sym typeface="+mn-ea"/>
                        </a:rPr>
                        <a:t>Hybrid RAG (Multi-Strategy):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❌ Searches embeddings, finds similar text mentioning "order" and "status"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✅ Detects: Pattern match for order ID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32893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❌ May return random orders with similar descriptions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✅ Uses: Filter search order_id eq 'ORD-12345'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❌ Slow (searches through all vectors)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✅ Fast: Direct database lookup (&lt;50ms)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❌ Unreliable (no guarantee of finding exact order)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✅ Accurate: Returns exact order with 100% precision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</a:tr>
              <a:tr h="279400">
                <a:tc>
                  <a:txBody>
                    <a:bodyPr/>
                    <a:p>
                      <a:pPr>
                        <a:spcAft>
                          <a:spcPts val="400"/>
                        </a:spcAft>
                        <a:buNone/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spcAft>
                          <a:spcPts val="400"/>
                        </a:spcAft>
                        <a:buNone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✅ Efficient: No embedding generation needed</a:t>
                      </a:r>
                      <a:endParaRPr lang="en-US" sz="12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180340"/>
            <a:ext cx="8228965" cy="27114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000"/>
              <a:t>			Architecture</a:t>
            </a:r>
            <a:endParaRPr lang="en-US" sz="20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5781040" cy="38227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000"/>
              <a:t>Ecomm:- </a:t>
            </a:r>
            <a:r>
              <a:rPr sz="2000"/>
              <a:t>Hybrid RAG Architecture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993775"/>
            <a:ext cx="8206740" cy="5133975"/>
          </a:xfrm>
        </p:spPr>
        <p:txBody>
          <a:bodyPr/>
          <a:lstStyle/>
          <a:p/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Indexing Phase (Offline - One Time):</a:t>
            </a:r>
            <a:endParaRPr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• PDFs → Text Chunks → Embeddings → documents-index</a:t>
            </a:r>
          </a:p>
          <a:p>
            <a:pPr marL="0" indent="0">
              <a:buNone/>
              <a:defRPr sz="1800"/>
            </a:pPr>
            <a:r>
              <a:t>• CSV Data → JSON → Structured indexes (5 indexes)</a:t>
            </a:r>
          </a:p>
          <a:p>
            <a:pPr marL="0" indent="0">
              <a:buNone/>
              <a:defRPr sz="1800"/>
            </a:pPr>
            <a:r>
              <a:t>• Total: 6 Azure AI Search indexes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Query Phase (Runtime - Every Request):</a:t>
            </a:r>
            <a:endParaRPr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1. User asks question</a:t>
            </a:r>
          </a:p>
          <a:p>
            <a:pPr marL="0" indent="0">
              <a:buNone/>
              <a:defRPr sz="1800"/>
            </a:pPr>
            <a:r>
              <a:t>2. Analyze query → Detect pattern → Choose strategy</a:t>
            </a:r>
          </a:p>
          <a:p>
            <a:pPr marL="0" indent="0">
              <a:buNone/>
              <a:defRPr sz="1800"/>
            </a:pPr>
            <a:r>
              <a:t>3. Execute appropriate search (vector/filter/fulltext)</a:t>
            </a:r>
          </a:p>
          <a:p>
            <a:pPr marL="0" indent="0">
              <a:buNone/>
              <a:defRPr sz="1800"/>
            </a:pPr>
            <a:r>
              <a:t>4. Retrieve top results</a:t>
            </a:r>
          </a:p>
          <a:p>
            <a:pPr marL="0" indent="0">
              <a:buNone/>
              <a:defRPr sz="1800"/>
            </a:pPr>
            <a:r>
              <a:t>5. Augment GPT-4o prompt with context</a:t>
            </a:r>
          </a:p>
          <a:p>
            <a:pPr marL="0" indent="0">
              <a:buNone/>
              <a:defRPr sz="1800"/>
            </a:pPr>
            <a:r>
              <a:t>6. Generate natural language answer with citations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611620" cy="58293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sz="2000"/>
              <a:t>Hybrid RAG </a:t>
            </a:r>
            <a:r>
              <a:rPr lang="en-US" sz="2000"/>
              <a:t>Pipeline </a:t>
            </a:r>
            <a:r>
              <a:rPr sz="2000"/>
              <a:t>Architecture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" y="1270000"/>
            <a:ext cx="7528560" cy="52133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495" y="91440"/>
            <a:ext cx="7207250" cy="52959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Hybrid RAG </a:t>
            </a:r>
            <a:r>
              <a:rPr lang="en-US" sz="2000"/>
              <a:t>Technical </a:t>
            </a:r>
            <a:r>
              <a:rPr sz="2000"/>
              <a:t>Architecture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3430"/>
            <a:ext cx="8609330" cy="588137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000"/>
            <a:ext cx="7218045" cy="39052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Hybrid RAG </a:t>
            </a:r>
            <a:r>
              <a:rPr lang="en-US" sz="2000"/>
              <a:t>Data Flow </a:t>
            </a:r>
            <a:endParaRPr 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" y="788670"/>
            <a:ext cx="8000365" cy="606933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239000" cy="46672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Technology Stack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6300"/>
            <a:ext cx="7281545" cy="5048885"/>
          </a:xfrm>
        </p:spPr>
        <p:txBody>
          <a:bodyPr/>
          <a:lstStyle/>
          <a:p/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Azure AI Services:</a:t>
            </a:r>
            <a:endParaRPr>
              <a:solidFill>
                <a:srgbClr val="7030A0"/>
              </a:solidFill>
            </a:endParaRPr>
          </a:p>
          <a:p>
            <a:pPr>
              <a:defRPr sz="1800"/>
            </a:pPr>
            <a:r>
              <a:t>  • Azure OpenAI: GPT-4o (generation) + text-embedding-3-large</a:t>
            </a:r>
          </a:p>
          <a:p>
            <a:pPr>
              <a:defRPr sz="1800"/>
            </a:pPr>
            <a:r>
              <a:t>  • Azure AI Search: 6 indexes with hybrid capabilities</a:t>
            </a:r>
          </a:p>
          <a:p>
            <a:pPr>
              <a:defRPr sz="1800"/>
            </a:pPr>
            <a:r>
              <a:t>  • Azure Storage: PDF file storage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Application:</a:t>
            </a:r>
            <a:endParaRPr>
              <a:solidFill>
                <a:srgbClr val="7030A0"/>
              </a:solidFill>
            </a:endParaRPr>
          </a:p>
          <a:p>
            <a:pPr>
              <a:defRPr sz="1800"/>
            </a:pPr>
            <a:r>
              <a:t>  • Next.js 16 (React Server Components)</a:t>
            </a:r>
          </a:p>
          <a:p>
            <a:pPr>
              <a:defRPr sz="1800"/>
            </a:pPr>
            <a:r>
              <a:t>  • TypeScript for type safety</a:t>
            </a:r>
          </a:p>
          <a:p>
            <a:pPr>
              <a:defRPr sz="1800"/>
            </a:pPr>
            <a:r>
              <a:t>  • Server-Sent Events (SSE) for streaming responses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Data Sources:</a:t>
            </a:r>
            <a:endParaRPr>
              <a:solidFill>
                <a:srgbClr val="7030A0"/>
              </a:solidFill>
            </a:endParaRPr>
          </a:p>
          <a:p>
            <a:pPr>
              <a:defRPr sz="1800"/>
            </a:pPr>
            <a:r>
              <a:t>  • 850+ PDF documents (policies, manuals, FAQs)</a:t>
            </a:r>
          </a:p>
          <a:p>
            <a:pPr>
              <a:defRPr sz="1800"/>
            </a:pPr>
            <a:r>
              <a:t>  • 50K+ CSV records (orders, customers, products, inventory)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6941820" cy="3771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>
              <a:defRPr sz="3200" b="1"/>
            </a:pPr>
            <a:r>
              <a:rPr sz="2000" b="0">
                <a:latin typeface="+mj-lt"/>
                <a:ea typeface="+mj-ea"/>
                <a:cs typeface="+mj-cs"/>
              </a:rPr>
              <a:t>Real-World Use Cases</a:t>
            </a:r>
            <a:endParaRPr sz="2000" b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865120" cy="4399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rPr sz="1800">
                <a:solidFill>
                  <a:srgbClr val="7030A0"/>
                </a:solidFill>
              </a:rPr>
              <a:t>Vector Search Examples:</a:t>
            </a:r>
            <a:endParaRPr sz="180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defRPr sz="1400"/>
            </a:pPr>
            <a:r>
              <a:t>• 'What's your warranty policy?'</a:t>
            </a:r>
          </a:p>
          <a:p>
            <a:pPr>
              <a:spcAft>
                <a:spcPts val="1200"/>
              </a:spcAft>
              <a:defRPr sz="1400"/>
            </a:pPr>
            <a:r>
              <a:t>• 'How to handle damaged items?'</a:t>
            </a:r>
          </a:p>
          <a:p>
            <a:pPr>
              <a:spcAft>
                <a:spcPts val="1200"/>
              </a:spcAft>
              <a:defRPr sz="1400"/>
            </a:pPr>
            <a:r>
              <a:t>• 'Shipping options for Canada?'</a:t>
            </a:r>
          </a:p>
          <a:p>
            <a:pPr>
              <a:spcAft>
                <a:spcPts val="1200"/>
              </a:spcAft>
              <a:defRPr sz="1400"/>
            </a:pPr>
            <a:r>
              <a:t>• 'Return process for gifts?'</a:t>
            </a:r>
          </a:p>
          <a:p>
            <a:pPr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buClrTx/>
              <a:buSzTx/>
              <a:buFontTx/>
              <a:defRPr sz="1400"/>
            </a:pPr>
            <a:r>
              <a:rPr sz="1800">
                <a:solidFill>
                  <a:srgbClr val="7030A0"/>
                </a:solidFill>
              </a:rPr>
              <a:t>Filter Search Examples:</a:t>
            </a:r>
            <a:endParaRPr sz="180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defRPr sz="1400"/>
            </a:pPr>
            <a:r>
              <a:t>• 'Orders for customer C12345'</a:t>
            </a:r>
          </a:p>
          <a:p>
            <a:pPr>
              <a:spcAft>
                <a:spcPts val="1200"/>
              </a:spcAft>
              <a:defRPr sz="1400"/>
            </a:pPr>
            <a:r>
              <a:t>• 'Show order #ORD-2024-5678'</a:t>
            </a:r>
          </a:p>
          <a:p>
            <a:pPr>
              <a:spcAft>
                <a:spcPts val="1200"/>
              </a:spcAft>
              <a:defRPr sz="1400"/>
            </a:pPr>
            <a:r>
              <a:t>• 'Customer ID: john@email.com'</a:t>
            </a:r>
          </a:p>
          <a:p>
            <a:pPr>
              <a:spcAft>
                <a:spcPts val="1200"/>
              </a:spcAft>
              <a:defRPr sz="1400"/>
            </a:pPr>
            <a:r>
              <a:t>• 'Order status for #12345'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1725" y="1371600"/>
            <a:ext cx="2964180" cy="4399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rPr sz="1800">
                <a:solidFill>
                  <a:srgbClr val="7030A0"/>
                </a:solidFill>
              </a:rPr>
              <a:t>Full-Text Search Examples:</a:t>
            </a:r>
            <a:endParaRPr sz="180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defRPr sz="1400"/>
            </a:pPr>
            <a:r>
              <a:t>• 'Laptops under $1000'</a:t>
            </a:r>
          </a:p>
          <a:p>
            <a:pPr>
              <a:spcAft>
                <a:spcPts val="1200"/>
              </a:spcAft>
              <a:defRPr sz="1400"/>
            </a:pPr>
            <a:r>
              <a:t>• 'Wireless headphones in stock'</a:t>
            </a:r>
          </a:p>
          <a:p>
            <a:pPr>
              <a:spcAft>
                <a:spcPts val="1200"/>
              </a:spcAft>
              <a:defRPr sz="1400"/>
            </a:pPr>
            <a:r>
              <a:t>• 'Show electronics on sale'</a:t>
            </a:r>
          </a:p>
          <a:p>
            <a:pPr>
              <a:spcAft>
                <a:spcPts val="1200"/>
              </a:spcAft>
              <a:defRPr sz="1400"/>
            </a:pPr>
            <a:r>
              <a:t>• '16GB RAM laptops under $800'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rPr sz="1800">
                <a:solidFill>
                  <a:srgbClr val="7030A0"/>
                </a:solidFill>
              </a:rPr>
              <a:t>Mixed Examples:</a:t>
            </a:r>
            <a:endParaRPr sz="180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defRPr sz="1400"/>
            </a:pPr>
            <a:r>
              <a:t>• 'Why was order #123 delayed?'</a:t>
            </a:r>
          </a:p>
          <a:p>
            <a:pPr>
              <a:spcAft>
                <a:spcPts val="1200"/>
              </a:spcAft>
              <a:defRPr sz="1400"/>
            </a:pPr>
            <a:r>
              <a:t>  → Filter (order) + Vector (policy)</a:t>
            </a:r>
          </a:p>
          <a:p>
            <a:pPr>
              <a:spcAft>
                <a:spcPts val="1200"/>
              </a:spcAft>
              <a:defRPr sz="1400"/>
            </a:pPr>
            <a:r>
              <a:t>• 'C12345 purchase history'</a:t>
            </a:r>
          </a:p>
          <a:p>
            <a:pPr>
              <a:spcAft>
                <a:spcPts val="1200"/>
              </a:spcAft>
              <a:defRPr sz="1400"/>
            </a:pPr>
            <a:r>
              <a:t>  → Filter (customer) + Aggregation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611620" cy="40195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Business Impact &amp; ROI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7441565" cy="5421630"/>
          </a:xfrm>
        </p:spPr>
        <p:txBody>
          <a:bodyPr/>
          <a:lstStyle/>
          <a:p/>
          <a:p>
            <a:pPr marL="0" indent="0">
              <a:buNone/>
              <a:defRPr sz="1800"/>
            </a:pPr>
            <a:r>
              <a:rPr>
                <a:solidFill>
                  <a:srgbClr val="7030A0"/>
                </a:solidFill>
              </a:rPr>
              <a:t>Customer Experience:</a:t>
            </a:r>
            <a:endParaRPr>
              <a:solidFill>
                <a:srgbClr val="7030A0"/>
              </a:solidFill>
            </a:endParaRPr>
          </a:p>
          <a:p>
            <a:pPr>
              <a:defRPr sz="1800"/>
            </a:pPr>
            <a:r>
              <a:t>✅ Instant accurate answers (1.8s average)</a:t>
            </a:r>
          </a:p>
          <a:p>
            <a:pPr>
              <a:defRPr sz="1800"/>
            </a:pPr>
            <a:r>
              <a:t>✅ 24/7 availability (no wait times)</a:t>
            </a:r>
          </a:p>
          <a:p>
            <a:pPr>
              <a:defRPr sz="1800"/>
            </a:pPr>
            <a:r>
              <a:t>✅ Consistent information across all channels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Operational Efficiency:</a:t>
            </a:r>
            <a:endParaRPr>
              <a:solidFill>
                <a:srgbClr val="7030A0"/>
              </a:solidFill>
            </a:endParaRPr>
          </a:p>
          <a:p>
            <a:pPr>
              <a:defRPr sz="1800"/>
            </a:pPr>
            <a:r>
              <a:t>✅ 67% cost reduction vs traditional RAG</a:t>
            </a:r>
          </a:p>
          <a:p>
            <a:pPr>
              <a:defRPr sz="1800"/>
            </a:pPr>
            <a:r>
              <a:t>✅ 3.2x faster response times</a:t>
            </a:r>
          </a:p>
          <a:p>
            <a:pPr>
              <a:defRPr sz="1800"/>
            </a:pPr>
            <a:r>
              <a:t>✅ 99%+ accuracy (fewer escalations)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Business Value:</a:t>
            </a:r>
            <a:endParaRPr>
              <a:solidFill>
                <a:srgbClr val="7030A0"/>
              </a:solidFill>
            </a:endParaRPr>
          </a:p>
          <a:p>
            <a:pPr>
              <a:defRPr sz="1800"/>
            </a:pPr>
            <a:r>
              <a:t>✅ Reduced support ticket volume by ~40%</a:t>
            </a:r>
          </a:p>
          <a:p>
            <a:pPr>
              <a:defRPr sz="1800"/>
            </a:pPr>
            <a:r>
              <a:t>✅ Improved customer satisfaction (CSAT +25%)</a:t>
            </a:r>
          </a:p>
          <a:p>
            <a:pPr>
              <a:defRPr sz="1800"/>
            </a:pPr>
            <a:r>
              <a:t>✅ Scalable: Handles 10K+ concurrent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6620510" cy="55118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Production Performance Metrics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rPr>
                <a:solidFill>
                  <a:srgbClr val="7030A0"/>
                </a:solidFill>
              </a:rPr>
              <a:t>Indexing Performance:</a:t>
            </a:r>
            <a:endParaRPr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 • 850 PDFs indexed in 45 minutes</a:t>
            </a:r>
          </a:p>
          <a:p>
            <a:pPr marL="0" indent="0">
              <a:buNone/>
              <a:defRPr sz="1800"/>
            </a:pPr>
            <a:r>
              <a:t> • 50K CSV records indexed in 8 minutes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Query Performance (Average):</a:t>
            </a:r>
            <a:endParaRPr>
              <a:solidFill>
                <a:srgbClr val="7030A0"/>
              </a:solidFill>
            </a:endParaRPr>
          </a:p>
          <a:p>
            <a:pPr marL="0" indent="0">
              <a:buNone/>
              <a:defRPr sz="1800"/>
            </a:pPr>
            <a:r>
              <a:t>• Vector Search: ~350ms embedding + 250ms search</a:t>
            </a:r>
          </a:p>
          <a:p>
            <a:pPr marL="0" indent="0">
              <a:buNone/>
              <a:defRPr sz="1800"/>
            </a:pPr>
            <a:r>
              <a:t>• Filter Search: ~50ms (direct lookup)</a:t>
            </a:r>
          </a:p>
          <a:p>
            <a:pPr marL="0" indent="0">
              <a:buNone/>
              <a:defRPr sz="1800"/>
            </a:pPr>
            <a:r>
              <a:t>• Full-Text Search: ~100ms</a:t>
            </a:r>
          </a:p>
          <a:p>
            <a:pPr marL="0" indent="0">
              <a:buNone/>
              <a:defRPr sz="1800"/>
            </a:pPr>
            <a:r>
              <a:t>• LLM Generation: ~1200ms (streaming)</a:t>
            </a:r>
          </a:p>
          <a:p>
            <a:pPr marL="0" indent="0">
              <a:buNone/>
              <a:defRPr sz="1800"/>
            </a:pPr>
            <a:r>
              <a:t>• Total End-to-End: ~1.8 seconds</a:t>
            </a:r>
          </a:p>
          <a:p>
            <a:pPr>
              <a:defRPr sz="1800"/>
            </a:p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Cost per Query: $0.009 average</a:t>
            </a:r>
            <a:endParaRPr>
              <a:solidFill>
                <a:srgbClr val="7030A0"/>
              </a:solidFill>
            </a:endParaRPr>
          </a:p>
          <a:p>
            <a:pPr marL="0" algn="l">
              <a:buClrTx/>
              <a:buSzTx/>
              <a:buFontTx/>
              <a:buNone/>
              <a:defRPr sz="1800"/>
            </a:pPr>
            <a:r>
              <a:rPr>
                <a:solidFill>
                  <a:srgbClr val="7030A0"/>
                </a:solidFill>
              </a:rPr>
              <a:t>Accuracy: 99%+ across all query types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210" y="190500"/>
            <a:ext cx="5695950" cy="32766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sz="2000"/>
              <a:t>Key Takeaways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rPr>
                <a:solidFill>
                  <a:srgbClr val="0070C0"/>
                </a:solidFill>
              </a:rPr>
              <a:t>1. RAG solves LLM limitations by grounding answers in your data</a:t>
            </a:r>
            <a:endParaRPr>
              <a:solidFill>
                <a:srgbClr val="0070C0"/>
              </a:solidFill>
            </a:endParaRP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>
                <a:solidFill>
                  <a:srgbClr val="0070C0"/>
                </a:solidFill>
              </a:rPr>
              <a:t>2. Traditional RAG uses only vector search (inefficient)</a:t>
            </a:r>
            <a:endParaRPr>
              <a:solidFill>
                <a:srgbClr val="0070C0"/>
              </a:solidFill>
            </a:endParaRP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>
                <a:solidFill>
                  <a:srgbClr val="0070C0"/>
                </a:solidFill>
              </a:rPr>
              <a:t>3. Hybrid RAG intelligently routes to 3 strategies:</a:t>
            </a:r>
            <a:endParaRPr>
              <a:solidFill>
                <a:srgbClr val="0070C0"/>
              </a:solidFill>
            </a:endParaRPr>
          </a:p>
          <a:p>
            <a:pPr marL="0" indent="0">
              <a:buNone/>
              <a:defRPr sz="1800"/>
            </a:pPr>
            <a:r>
              <a:t>  • Vector for semantic queries</a:t>
            </a:r>
          </a:p>
          <a:p>
            <a:pPr marL="0" indent="0">
              <a:buNone/>
              <a:defRPr sz="1800"/>
            </a:pPr>
            <a:r>
              <a:rPr lang="en-US"/>
              <a:t>  </a:t>
            </a:r>
            <a:r>
              <a:t>• Filter for exact lookups</a:t>
            </a:r>
          </a:p>
          <a:p>
            <a:pPr marL="0" indent="0">
              <a:buNone/>
              <a:defRPr sz="1800"/>
            </a:pPr>
            <a:r>
              <a:t> </a:t>
            </a:r>
            <a:r>
              <a:rPr lang="en-US"/>
              <a:t> </a:t>
            </a:r>
            <a:r>
              <a:t>• Full-text for faceted search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>
                <a:solidFill>
                  <a:srgbClr val="0070C0"/>
                </a:solidFill>
              </a:rPr>
              <a:t>4. Results: 3.2x faster, 67% cheaper, 99%+ accurate</a:t>
            </a:r>
            <a:endParaRPr>
              <a:solidFill>
                <a:srgbClr val="0070C0"/>
              </a:solidFill>
            </a:endParaRP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rPr>
                <a:solidFill>
                  <a:srgbClr val="0070C0"/>
                </a:solidFill>
              </a:rPr>
              <a:t>5. Production-ready with Azure AI services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Hybrid RAG Implementation Guide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p>
            <a:r>
              <a:rPr lang="en-US"/>
              <a:t>Copyright @ CodeInsights @pramodklal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9*176"/>
  <p:tag name="TABLE_ENDDRAG_RECT" val="48*93*599*176"/>
</p:tagLst>
</file>

<file path=ppt/tags/tag2.xml><?xml version="1.0" encoding="utf-8"?>
<p:tagLst xmlns:p="http://schemas.openxmlformats.org/presentationml/2006/main">
  <p:tag name="TABLE_ENDDRAG_ORIGIN_RECT" val="555*128"/>
  <p:tag name="TABLE_ENDDRAG_RECT" val="50*324*556*128"/>
</p:tagLst>
</file>

<file path=ppt/tags/tag3.xml><?xml version="1.0" encoding="utf-8"?>
<p:tagLst xmlns:p="http://schemas.openxmlformats.org/presentationml/2006/main">
  <p:tag name="TABLE_ENDDRAG_ORIGIN_RECT" val="621*138"/>
  <p:tag name="TABLE_ENDDRAG_RECT" val="25*401*621*138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9783</Words>
  <Application>WPS Presentation</Application>
  <PresentationFormat>On-screen Show (4:3)</PresentationFormat>
  <Paragraphs>471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Courier New</vt:lpstr>
      <vt:lpstr>Microsoft YaHei</vt:lpstr>
      <vt:lpstr>Arial Unicode MS</vt:lpstr>
      <vt:lpstr>Calibri</vt:lpstr>
      <vt:lpstr>Blue Waves</vt:lpstr>
      <vt:lpstr>Hybrid RAG Architecture</vt:lpstr>
      <vt:lpstr>The Problem: Traditional LLMs Without RAG</vt:lpstr>
      <vt:lpstr>What is RAG? (Retrieval-Augmented Generation)</vt:lpstr>
      <vt:lpstr>PowerPoint 演示文稿</vt:lpstr>
      <vt:lpstr>Limitations of Traditional RAG (Single Strategy)</vt:lpstr>
      <vt:lpstr>Hybrid RAG: The Intelligent Solution</vt:lpstr>
      <vt:lpstr>Strategy 1: Vector Search (Semantic)</vt:lpstr>
      <vt:lpstr>Strategy 2: Filter Search (Exact Match)</vt:lpstr>
      <vt:lpstr>Strategy 3: Full-Text Search (Keyword + Facets)</vt:lpstr>
      <vt:lpstr>PowerPoint 演示文稿</vt:lpstr>
      <vt:lpstr>			Architecture</vt:lpstr>
      <vt:lpstr>Ecomm:- Hybrid RAG Architecture</vt:lpstr>
      <vt:lpstr>Hybrid RAG Pipeline Architecture</vt:lpstr>
      <vt:lpstr>Hybrid RAG Technical Architecture</vt:lpstr>
      <vt:lpstr>Hybrid RAG Data Flow </vt:lpstr>
      <vt:lpstr>Technology Stack</vt:lpstr>
      <vt:lpstr>PowerPoint 演示文稿</vt:lpstr>
      <vt:lpstr>Business Impact &amp; ROI</vt:lpstr>
      <vt:lpstr>Production Performance Metrics</vt:lpstr>
      <vt:lpstr>Key Takeaways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Pramod Lal</cp:lastModifiedBy>
  <cp:revision>16</cp:revision>
  <dcterms:created xsi:type="dcterms:W3CDTF">2013-01-27T09:14:00Z</dcterms:created>
  <dcterms:modified xsi:type="dcterms:W3CDTF">2026-02-18T22:18:04Z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9C5FC0C705FA4B2B987933F365709F28_12</vt:lpwstr>
  </property>
  <property fmtid="{D5CDD505-2E9C-101B-9397-08002B2CF9AE}" pid="3" name="KSOProductBuildVer">
    <vt:lpwstr>1033-12.2.0.23196</vt:lpwstr>
  </property>
</Properties>
</file>